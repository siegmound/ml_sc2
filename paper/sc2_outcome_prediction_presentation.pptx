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Split share</c:v>
                </c:pt>
              </c:strCache>
            </c:strRef>
          </c:tx>
          <c:spPr>
            <a:solidFill>
              <a:srgbClr val="6FAF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16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09-4178-A4AC-C043AFEA4F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Replay count</c:v>
                </c:pt>
              </c:strCache>
            </c:strRef>
          </c:tx>
          <c:spPr>
            <a:ln w="38100" cap="flat">
              <a:solidFill>
                <a:srgbClr val="2F6FB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6FB3"/>
              </a:solidFill>
              <a:ln w="9525" cap="flat">
                <a:solidFill>
                  <a:srgbClr val="2F6FB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Smoke200</c:v>
                </c:pt>
                <c:pt idx="1">
                  <c:v>Smoke500</c:v>
                </c:pt>
                <c:pt idx="2">
                  <c:v>Smoke1500</c:v>
                </c:pt>
                <c:pt idx="3">
                  <c:v>Smoke3000</c:v>
                </c:pt>
                <c:pt idx="4">
                  <c:v>Smoke6000</c:v>
                </c:pt>
                <c:pt idx="5">
                  <c:v>Full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200</c:v>
                </c:pt>
                <c:pt idx="1">
                  <c:v>500</c:v>
                </c:pt>
                <c:pt idx="2">
                  <c:v>1500</c:v>
                </c:pt>
                <c:pt idx="3">
                  <c:v>3000</c:v>
                </c:pt>
                <c:pt idx="4">
                  <c:v>6000</c:v>
                </c:pt>
                <c:pt idx="5">
                  <c:v>23241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E0-4CAA-9B9B-FAE40006B5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7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FAF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v3_1 full</c:v>
                </c:pt>
                <c:pt idx="1">
                  <c:v>v3_1 no_counter</c:v>
                </c:pt>
                <c:pt idx="2">
                  <c:v>v3_2 full</c:v>
                </c:pt>
                <c:pt idx="3">
                  <c:v>v3_2 no_counter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0.58609999999999995</c:v>
                </c:pt>
                <c:pt idx="1">
                  <c:v>0.58730000000000004</c:v>
                </c:pt>
                <c:pt idx="2">
                  <c:v>0.58520000000000005</c:v>
                </c:pt>
                <c:pt idx="3">
                  <c:v>0.58860000000000001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53-426B-B5D5-2121DB54F2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9"/>
          <c:min val="0.5799999999999999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F6FB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v3_1 full</c:v>
                </c:pt>
                <c:pt idx="1">
                  <c:v>v3_1 no_counter</c:v>
                </c:pt>
                <c:pt idx="2">
                  <c:v>v3_2 full</c:v>
                </c:pt>
                <c:pt idx="3">
                  <c:v>v3_2 no_counter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0.62629999999999997</c:v>
                </c:pt>
                <c:pt idx="1">
                  <c:v>0.62929999999999997</c:v>
                </c:pt>
                <c:pt idx="2">
                  <c:v>0.624</c:v>
                </c:pt>
                <c:pt idx="3">
                  <c:v>0.62770000000000004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F6-4F7B-B611-98C7D6FADB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3100000000000001"/>
          <c:min val="0.623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F6FB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RF v3_1</c:v>
                </c:pt>
                <c:pt idx="1">
                  <c:v>XGB v3_1</c:v>
                </c:pt>
                <c:pt idx="2">
                  <c:v>RF v3_2</c:v>
                </c:pt>
                <c:pt idx="3">
                  <c:v>XGB v3_2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0.61329999999999996</c:v>
                </c:pt>
                <c:pt idx="1">
                  <c:v>0.61280000000000001</c:v>
                </c:pt>
                <c:pt idx="2">
                  <c:v>0.61280000000000001</c:v>
                </c:pt>
                <c:pt idx="3">
                  <c:v>0.61280000000000001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92-4E1B-B53E-3DDC206C79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1499999999999999"/>
          <c:min val="0.6079999999999999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</c:v>
                </c:pt>
              </c:strCache>
            </c:strRef>
          </c:tx>
          <c:spPr>
            <a:solidFill>
              <a:srgbClr val="6FAF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RF v3_1</c:v>
                </c:pt>
                <c:pt idx="1">
                  <c:v>XGB v3_1</c:v>
                </c:pt>
                <c:pt idx="2">
                  <c:v>RF v3_2</c:v>
                </c:pt>
                <c:pt idx="3">
                  <c:v>XGB v3_2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0.61109999999999998</c:v>
                </c:pt>
                <c:pt idx="1">
                  <c:v>0.60929999999999995</c:v>
                </c:pt>
                <c:pt idx="2">
                  <c:v>0.61070000000000002</c:v>
                </c:pt>
                <c:pt idx="3">
                  <c:v>0.60929999999999995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07-4BAF-B7D0-1293AEA96F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1299999999999999"/>
          <c:min val="0.6059999999999999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RF v3_1</c:v>
                </c:pt>
                <c:pt idx="1">
                  <c:v>XGB v3_1</c:v>
                </c:pt>
                <c:pt idx="2">
                  <c:v>RF v3_2</c:v>
                </c:pt>
                <c:pt idx="3">
                  <c:v>XGB v3_2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0.66049999999999998</c:v>
                </c:pt>
                <c:pt idx="1">
                  <c:v>0.66010000000000002</c:v>
                </c:pt>
                <c:pt idx="2">
                  <c:v>0.6603</c:v>
                </c:pt>
                <c:pt idx="3">
                  <c:v>0.65969999999999995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95-4884-9DD0-2D07D2EEFE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6200000000000003"/>
          <c:min val="0.65700000000000003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 loss</c:v>
                </c:pt>
              </c:strCache>
            </c:strRef>
          </c:tx>
          <c:spPr>
            <a:solidFill>
              <a:srgbClr val="C65C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RF v3_1</c:v>
                </c:pt>
                <c:pt idx="1">
                  <c:v>XGB v3_1</c:v>
                </c:pt>
                <c:pt idx="2">
                  <c:v>RF v3_2</c:v>
                </c:pt>
                <c:pt idx="3">
                  <c:v>XGB v3_2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0.65029999999999999</c:v>
                </c:pt>
                <c:pt idx="1">
                  <c:v>0.64839999999999998</c:v>
                </c:pt>
                <c:pt idx="2">
                  <c:v>0.65039999999999998</c:v>
                </c:pt>
                <c:pt idx="3">
                  <c:v>0.64859999999999995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26-4B27-A8F0-3D42612224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200000000000002"/>
          <c:min val="0.64600000000000002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FAF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RF</c:v>
                </c:pt>
                <c:pt idx="1">
                  <c:v>XGB</c:v>
                </c:pt>
                <c:pt idx="2">
                  <c:v>Deep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0.61329999999999996</c:v>
                </c:pt>
                <c:pt idx="1">
                  <c:v>0.61280000000000001</c:v>
                </c:pt>
                <c:pt idx="2">
                  <c:v>0.60929999999999995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1B-494D-9E16-0D0D35365F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1499999999999999"/>
          <c:min val="0.6049999999999999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F6FB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RF</c:v>
                </c:pt>
                <c:pt idx="1">
                  <c:v>XGB</c:v>
                </c:pt>
                <c:pt idx="2">
                  <c:v>Deep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0.66049999999999998</c:v>
                </c:pt>
                <c:pt idx="1">
                  <c:v>0.66010000000000002</c:v>
                </c:pt>
                <c:pt idx="2">
                  <c:v>0.65810000000000002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A-4707-B771-8147143F77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6200000000000003"/>
          <c:min val="0.65600000000000003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 Brier</c:v>
                </c:pt>
              </c:strCache>
            </c:strRef>
          </c:tx>
          <c:spPr>
            <a:solidFill>
              <a:srgbClr val="6FAF6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uncal</c:v>
                </c:pt>
                <c:pt idx="1">
                  <c:v>Platt</c:v>
                </c:pt>
                <c:pt idx="2">
                  <c:v>Isotonic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0.230209</c:v>
                </c:pt>
                <c:pt idx="1">
                  <c:v>0.22950599999999999</c:v>
                </c:pt>
                <c:pt idx="2">
                  <c:v>0.22952700000000001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28-41AA-8694-A3BCCEDA34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 Brier</c:v>
                </c:pt>
              </c:strCache>
            </c:strRef>
          </c:tx>
          <c:spPr>
            <a:solidFill>
              <a:srgbClr val="2F6FB3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uncal</c:v>
                </c:pt>
                <c:pt idx="1">
                  <c:v>Platt</c:v>
                </c:pt>
                <c:pt idx="2">
                  <c:v>Isotonic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0.22885</c:v>
                </c:pt>
                <c:pt idx="1">
                  <c:v>0.22892799999999999</c:v>
                </c:pt>
                <c:pt idx="2">
                  <c:v>0.22897700000000001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28-41AA-8694-A3BCCEDA34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3100000000000001"/>
          <c:min val="0.2280000000000000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 ECE</c:v>
                </c:pt>
              </c:strCache>
            </c:strRef>
          </c:tx>
          <c:spPr>
            <a:solidFill>
              <a:srgbClr val="6FAF6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uncal</c:v>
                </c:pt>
                <c:pt idx="1">
                  <c:v>Platt</c:v>
                </c:pt>
                <c:pt idx="2">
                  <c:v>Isotonic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2.5267999999999999E-2</c:v>
                </c:pt>
                <c:pt idx="1">
                  <c:v>1.4375000000000001E-2</c:v>
                </c:pt>
                <c:pt idx="2">
                  <c:v>1.3742000000000001E-2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62-427E-914F-E4BF20505D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 ECE</c:v>
                </c:pt>
              </c:strCache>
            </c:strRef>
          </c:tx>
          <c:spPr>
            <a:solidFill>
              <a:srgbClr val="2F6FB3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uncal</c:v>
                </c:pt>
                <c:pt idx="1">
                  <c:v>Platt</c:v>
                </c:pt>
                <c:pt idx="2">
                  <c:v>Isotonic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1.3129E-2</c:v>
                </c:pt>
                <c:pt idx="1">
                  <c:v>1.4968E-2</c:v>
                </c:pt>
                <c:pt idx="2">
                  <c:v>1.4071E-2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62-427E-914F-E4BF20505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3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67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94A"/>
          </a:solidFill>
          <a:ln w="12700">
            <a:solidFill>
              <a:srgbClr val="0B29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StarCraft II Outcome Prediction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EAF8"/>
                </a:solidFill>
              </a:rPr>
              <a:t>A rigorous project narrative from dataset construction to calibrated final model selection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470916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Replay snapshots transformed into a full tabular prediction dataset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Group-aware multi-seed evaluation on full data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Head-to-head comparison of Random Forest, XGBoost, and a deep challenger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Final recommendations separated by classification vs probability quality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91440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7F9FB"/>
          </a:solidFill>
          <a:ln w="12700">
            <a:solidFill>
              <a:srgbClr val="D2D9E3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81228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7"/>
                </a:solidFill>
              </a:rPr>
              <a:t>Final takeaways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12280" y="1691640"/>
            <a:ext cx="429768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v3_1_fixed remains at least as strong as v3_2_combatfix at final scale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RF + no_counter and XGB + full features finish essentially tied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RF is slightly stronger for classification; XGB is slightly stronger for calibrated probability estimates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The deep model is competitive but does not surpass the tabular finalists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12280" y="41827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FAF6A"/>
                </a:solidFill>
              </a:rPr>
              <a:t>Final recommendation (classification): RF + v3_1_fixed + no_counter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12280" y="4612113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FB3"/>
                </a:solidFill>
              </a:rPr>
              <a:t>Final recommendation (probability quality): XGB + v3_1_fixed + full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framing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Goal: predict the winner from replay snapshots and identify which conclusions remain stable under full-scale evaluation.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DF6E6"/>
          </a:solidFill>
          <a:ln w="12700">
            <a:solidFill>
              <a:srgbClr val="E4C98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Research question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700784"/>
            <a:ext cx="28346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 </a:t>
            </a:r>
            <a:r>
              <a:rPr lang="en-US" sz="1400" dirty="0">
                <a:solidFill>
                  <a:srgbClr val="1F2937"/>
                </a:solidFill>
              </a:rPr>
              <a:t>Can tabular game-state snapshots predict the final match winner early and reliably?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Which model family is strongest once evaluation is replay-aware and multi-seed?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5968" y="10972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AF3FB"/>
          </a:solidFill>
          <a:ln w="12700">
            <a:solidFill>
              <a:srgbClr val="C8DC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44568" y="1325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What had to be resolved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81728" y="1700784"/>
            <a:ext cx="28346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 Potential leakage from multiple snapshots of the same replay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Changing conclusions between small staged subsets and full data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Need to judge both classification quality and probability quality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3296" y="10972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9F4E9"/>
          </a:solidFill>
          <a:ln w="12700">
            <a:solidFill>
              <a:srgbClr val="C7DDC7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311896" y="1325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End-state of the project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49056" y="1700784"/>
            <a:ext cx="27432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 Two tabular finalists: Random Forest and </a:t>
            </a:r>
            <a:r>
              <a:rPr lang="en-US" sz="1400" dirty="0" err="1">
                <a:solidFill>
                  <a:srgbClr val="1F2937"/>
                </a:solidFill>
              </a:rPr>
              <a:t>XGBoost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One full-data deep challenger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 Final recommendation split by use case: classification vs calibrated probabilities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41247" y="3712464"/>
            <a:ext cx="57493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Main discoveries after completing the project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" y="4160520"/>
            <a:ext cx="996696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final full-data comparison does not support a strong advantage for v3_2_combatfix over v3_1_fixed.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Random Forest and XGBoost end essentially tied, but with different strengths: RF is slightly better as a classifier, XGB is slightly better as a probability model.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best Random Forest profile excludes counter features, which turned out not to be necessary for the strongest final RF result.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construction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final dataset is built from replay archives through a deterministic replay-to-snapshot pipeline.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38912" y="14173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3A67"/>
                </a:solidFill>
              </a:rPr>
              <a:t>Raw replay corpus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3504" y="193852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400" dirty="0"/>
              <a:t>71 </a:t>
            </a:r>
            <a:r>
              <a:rPr lang="it-IT" sz="1400" dirty="0" err="1"/>
              <a:t>replaypacks</a:t>
            </a:r>
            <a:endParaRPr lang="it-IT" sz="1400" dirty="0"/>
          </a:p>
          <a:p>
            <a:pPr algn="ctr"/>
            <a:r>
              <a:rPr lang="it-IT" sz="1400" dirty="0"/>
              <a:t>24,057 replays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23744" y="1993392"/>
            <a:ext cx="237744" cy="329184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788920" y="14173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935224" y="157276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3A67"/>
                </a:solidFill>
              </a:rPr>
              <a:t>Replay parsing + Eligibility filtering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74264" y="2048255"/>
            <a:ext cx="1847088" cy="836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/>
              <a:t>Load replay and events,</a:t>
            </a:r>
          </a:p>
          <a:p>
            <a:pPr algn="ctr"/>
            <a:r>
              <a:rPr lang="en-US" sz="1300" dirty="0"/>
              <a:t>apply min/max duration</a:t>
            </a:r>
          </a:p>
          <a:p>
            <a:pPr algn="ctr"/>
            <a:r>
              <a:rPr lang="en-US" sz="1300" dirty="0"/>
              <a:t>constraints, retain usable corpus</a:t>
            </a:r>
          </a:p>
        </p:txBody>
      </p:sp>
      <p:sp>
        <p:nvSpPr>
          <p:cNvPr id="14" name="Shape 12"/>
          <p:cNvSpPr/>
          <p:nvPr/>
        </p:nvSpPr>
        <p:spPr>
          <a:xfrm>
            <a:off x="4873752" y="1993392"/>
            <a:ext cx="237744" cy="329184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138928" y="14173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285232" y="1572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3A67"/>
                </a:solidFill>
              </a:rPr>
              <a:t>Snapshot builder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03520" y="193852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Create time-indexed rows with labels and replay IDs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7223760" y="1993392"/>
            <a:ext cx="237744" cy="329184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7488936" y="14173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635240" y="1572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3A67"/>
                </a:solidFill>
              </a:rPr>
              <a:t>Feature matrix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653528" y="193852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Economy, combat, scouting, composition, trend features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9573768" y="1993392"/>
            <a:ext cx="237744" cy="329184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9838944" y="14173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8EFD8"/>
          </a:solidFill>
          <a:ln w="12700">
            <a:solidFill>
              <a:srgbClr val="D7B96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985248" y="1572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3A67"/>
                </a:solidFill>
              </a:rPr>
              <a:t>Final variants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003536" y="193852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v3_1_fixed and v3_2_combatfix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85800" y="3794760"/>
            <a:ext cx="2971800" cy="1965960"/>
          </a:xfrm>
          <a:prstGeom prst="roundRect">
            <a:avLst>
              <a:gd name="adj" fmla="val 3721"/>
            </a:avLst>
          </a:prstGeom>
          <a:solidFill>
            <a:srgbClr val="E5F3E6"/>
          </a:solidFill>
          <a:ln w="12700">
            <a:solidFill>
              <a:srgbClr val="CBE0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914400" y="40416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Final dataset size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41832" y="45994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AF6A"/>
                </a:solidFill>
              </a:rPr>
              <a:t>892,047 rows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6FAF6A"/>
                </a:solidFill>
              </a:rPr>
              <a:t>23,241 eligible replays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840480" y="379476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E9E1F7"/>
          </a:solidFill>
          <a:ln w="12700">
            <a:solidFill>
              <a:srgbClr val="D5C9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069080" y="4041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Final dataset variants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4114800" y="4443984"/>
            <a:ext cx="27432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v3_1_fixed: final stable reference dataset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v3_2_combatfix: alternative variant with combat-related adjustments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79792" y="3794760"/>
            <a:ext cx="4069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7726680" y="40416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Why snapshot rows matter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7772400" y="4443984"/>
            <a:ext cx="329184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They allow time-sensitive prediction rather than only one final label per replay.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They also force replay-aware splitting: rows from the same match cannot leak across train and test.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3</a:t>
            </a:r>
            <a:endParaRPr lang="en-US" sz="800" dirty="0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70994083-E5A4-E1FF-0678-F86360113C0E}"/>
              </a:ext>
            </a:extLst>
          </p:cNvPr>
          <p:cNvSpPr txBox="1"/>
          <p:nvPr/>
        </p:nvSpPr>
        <p:spPr>
          <a:xfrm>
            <a:off x="864108" y="6108192"/>
            <a:ext cx="10533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Raw corpus: 71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replaypacks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 24,057 replays. After replay parsing and eligibility filtering, 23,241 replays remain for snapshot extraction.</a:t>
            </a:r>
            <a:endParaRPr lang="it-IT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protocol and data splits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All final claims are based on replay-aware multi-seed evaluation.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94360" y="1097279"/>
            <a:ext cx="3794760" cy="2249421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41248" y="13533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Replay-aware protocol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1766717"/>
            <a:ext cx="30175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Split at replay level: all snapshots of a replay stay in one split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Full comparison uses three seeds: 42, 43, 44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 Validation is used for model selection; test is used once for final evaluation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1249452183"/>
              </p:ext>
            </p:extLst>
          </p:nvPr>
        </p:nvGraphicFramePr>
        <p:xfrm>
          <a:off x="4553712" y="1115567"/>
          <a:ext cx="2971800" cy="22311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7726680" y="1097280"/>
            <a:ext cx="3840480" cy="2430924"/>
          </a:xfrm>
          <a:prstGeom prst="roundRect">
            <a:avLst>
              <a:gd name="adj" fmla="val 3333"/>
            </a:avLst>
          </a:prstGeom>
          <a:solidFill>
            <a:srgbClr val="F8EFD8"/>
          </a:solidFill>
          <a:ln w="12700">
            <a:solidFill>
              <a:srgbClr val="E4C98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7973568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Why this protocol is necessary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28432" y="1737360"/>
            <a:ext cx="292608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Snapshot rows from the same replay are highly correlated.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A row-level random split would overestimate performance.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The multi-seed setup tells us whether a conclusion survives different train/validation/test assignments.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4360" y="3657599"/>
            <a:ext cx="10972800" cy="2514597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841248" y="39136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From staged exploration to final benchmark</a:t>
            </a:r>
            <a:endParaRPr lang="en-US" sz="2000" dirty="0"/>
          </a:p>
        </p:txBody>
      </p:sp>
      <p:graphicFrame>
        <p:nvGraphicFramePr>
          <p:cNvPr id="16" name="Chart 1"/>
          <p:cNvGraphicFramePr/>
          <p:nvPr>
            <p:extLst>
              <p:ext uri="{D42A27DB-BD31-4B8C-83A1-F6EECF244321}">
                <p14:modId xmlns:p14="http://schemas.microsoft.com/office/powerpoint/2010/main" val="2079650319"/>
              </p:ext>
            </p:extLst>
          </p:nvPr>
        </p:nvGraphicFramePr>
        <p:xfrm>
          <a:off x="896112" y="4507990"/>
          <a:ext cx="4846320" cy="1618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3"/>
          <p:cNvSpPr/>
          <p:nvPr/>
        </p:nvSpPr>
        <p:spPr>
          <a:xfrm>
            <a:off x="6172200" y="4315968"/>
            <a:ext cx="46634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Small staged subsets were used for debugging, model screening, and profile selection.</a:t>
            </a: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The final verdict was deliberately postponed until the full multi-seed comparison was complete.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families and model inputs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project mixes state variables, derived ratios, and temporal signals extracted from the replay snapshots.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E5F3E6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41248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7"/>
                </a:solidFill>
              </a:rPr>
              <a:t>Economy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Income, workers, resources, supply ratios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60520" y="123444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F8EFD8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361688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7"/>
                </a:solidFill>
              </a:rPr>
              <a:t>Combat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61688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Army supply, combat score, force composition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80960" y="123444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E9E1F7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882128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7"/>
                </a:solidFill>
              </a:rPr>
              <a:t>Scouting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82128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Observed information and asymmetry cues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EAF3FB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41248" y="3611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7"/>
                </a:solidFill>
              </a:rPr>
              <a:t>Composition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Diversity, entropy, and unit mix balance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60520" y="342900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FDECEC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361688" y="3611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7"/>
                </a:solidFill>
              </a:rPr>
              <a:t>Temporal trends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61688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15s deltas, 60s/120s trend or volatility signals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342900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FFF5E4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882128" y="3611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7"/>
                </a:solidFill>
              </a:rPr>
              <a:t>Counter / losses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82128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Handcrafted counters and recent-loss style features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5227609"/>
            <a:ext cx="10972800" cy="1036031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929065" y="5404104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3A67"/>
                </a:solidFill>
              </a:rPr>
              <a:t>Key design question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68680" y="58338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Which feature families still matter once the models are evaluated on full replay-aware multi-seed splits? A central finding is that the counter family is not required by the strongest final RF pipeline.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considered and what each one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Each model family answers a different question about the structure of the problem.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731520" y="1078992"/>
            <a:ext cx="192024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86384" y="11521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 family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0" y="1078992"/>
            <a:ext cx="192024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798064" y="11521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Role in the project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1078992"/>
            <a:ext cx="635508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901184" y="1152144"/>
            <a:ext cx="6263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14630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86384" y="15361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Logistic Regression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2743200" y="14630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798064" y="15361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Linear baseline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4846320" y="1463040"/>
            <a:ext cx="6355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901184" y="1536192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Measures how much signal is already linearly separable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731520" y="19202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86384" y="19933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Random Forest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2743200" y="19202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798064" y="19933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Tree ensemble finalist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4846320" y="1920240"/>
            <a:ext cx="6355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901184" y="1993392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Robust classifier; easiest model to analyze by feature family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731520" y="23774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86384" y="24505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XGBoost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2743200" y="23774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2798064" y="24505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Boosted-tree finalist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4846320" y="2377440"/>
            <a:ext cx="6355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901184" y="2450592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Strong probability model with excellent log-loss behavior</a:t>
            </a:r>
            <a:endParaRPr lang="en-US" sz="1420" dirty="0"/>
          </a:p>
        </p:txBody>
      </p:sp>
      <p:sp>
        <p:nvSpPr>
          <p:cNvPr id="31" name="Shape 29"/>
          <p:cNvSpPr/>
          <p:nvPr/>
        </p:nvSpPr>
        <p:spPr>
          <a:xfrm>
            <a:off x="731520" y="28346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86384" y="29077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Deep MLP</a:t>
            </a:r>
            <a:endParaRPr lang="en-US" sz="1420" dirty="0"/>
          </a:p>
        </p:txBody>
      </p:sp>
      <p:sp>
        <p:nvSpPr>
          <p:cNvPr id="33" name="Shape 31"/>
          <p:cNvSpPr/>
          <p:nvPr/>
        </p:nvSpPr>
        <p:spPr>
          <a:xfrm>
            <a:off x="2743200" y="283464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2798064" y="29077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Final challenger</a:t>
            </a:r>
            <a:endParaRPr lang="en-US" sz="1420" dirty="0"/>
          </a:p>
        </p:txBody>
      </p:sp>
      <p:sp>
        <p:nvSpPr>
          <p:cNvPr id="35" name="Shape 33"/>
          <p:cNvSpPr/>
          <p:nvPr/>
        </p:nvSpPr>
        <p:spPr>
          <a:xfrm>
            <a:off x="4846320" y="2834640"/>
            <a:ext cx="6355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901184" y="2907792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</a:rPr>
              <a:t>Tests whether a flexible neural model can beat strong tabular baselines</a:t>
            </a:r>
            <a:endParaRPr lang="en-US" sz="1420" dirty="0"/>
          </a:p>
        </p:txBody>
      </p:sp>
      <p:sp>
        <p:nvSpPr>
          <p:cNvPr id="37" name="Shape 35"/>
          <p:cNvSpPr/>
          <p:nvPr/>
        </p:nvSpPr>
        <p:spPr>
          <a:xfrm>
            <a:off x="777240" y="3657599"/>
            <a:ext cx="3474720" cy="2493033"/>
          </a:xfrm>
          <a:prstGeom prst="roundRect">
            <a:avLst>
              <a:gd name="adj" fmla="val 3636"/>
            </a:avLst>
          </a:prstGeom>
          <a:solidFill>
            <a:srgbClr val="E5F3E6"/>
          </a:solidFill>
          <a:ln w="12700">
            <a:solidFill>
              <a:srgbClr val="CBE0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1005840" y="39136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Final tabular finalists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1051560" y="4434597"/>
            <a:ext cx="25603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Random Forest with profile </a:t>
            </a:r>
            <a:r>
              <a:rPr lang="en-US" sz="1700" dirty="0" err="1">
                <a:solidFill>
                  <a:srgbClr val="1F2937"/>
                </a:solidFill>
              </a:rPr>
              <a:t>no_counter</a:t>
            </a:r>
            <a:endParaRPr lang="en-US" sz="1700" dirty="0">
              <a:solidFill>
                <a:srgbClr val="1F2937"/>
              </a:solidFill>
            </a:endParaRP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 err="1">
                <a:solidFill>
                  <a:srgbClr val="1F2937"/>
                </a:solidFill>
              </a:rPr>
              <a:t>XGBoost</a:t>
            </a:r>
            <a:r>
              <a:rPr lang="en-US" sz="1700" dirty="0">
                <a:solidFill>
                  <a:srgbClr val="1F2937"/>
                </a:solidFill>
              </a:rPr>
              <a:t> with the full feature set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4389120" y="3657600"/>
            <a:ext cx="3383280" cy="2493032"/>
          </a:xfrm>
          <a:prstGeom prst="roundRect">
            <a:avLst>
              <a:gd name="adj" fmla="val 3636"/>
            </a:avLst>
          </a:prstGeom>
          <a:solidFill>
            <a:srgbClr val="E9E1F7"/>
          </a:solidFill>
          <a:ln w="12700">
            <a:solidFill>
              <a:srgbClr val="D5C9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4617720" y="39136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Why keep the deep model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4663440" y="4370832"/>
            <a:ext cx="26060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To test whether a flexible non-linear model can exploit structure missed by tabular ensembles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To ensure the final conclusion is not an artifact of comparing only tree models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909560" y="3657600"/>
            <a:ext cx="3611880" cy="2493032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8156448" y="39136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Metrics used at the end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8211312" y="4315968"/>
            <a:ext cx="27432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Accuracy and balanced accuracy for classification performance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ROC-AUC for ranking ability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Log loss, Brier score, ECE and MCE for probability quality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Staged screening before the full benchmark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Early experiments were used to narrow the search space before committing to full-data evaluation.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98932" y="1280158"/>
            <a:ext cx="10972800" cy="13715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1536192" y="1508760"/>
            <a:ext cx="219456" cy="219456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1755648" y="1618488"/>
            <a:ext cx="1527048" cy="0"/>
          </a:xfrm>
          <a:prstGeom prst="line">
            <a:avLst/>
          </a:prstGeom>
          <a:noFill/>
          <a:ln w="1905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71600" y="184131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A67"/>
                </a:solidFill>
              </a:rPr>
              <a:t>Smoke200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20848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debug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and sanity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9272" y="1508760"/>
            <a:ext cx="219456" cy="219456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538728" y="1618488"/>
            <a:ext cx="1527048" cy="0"/>
          </a:xfrm>
          <a:prstGeom prst="line">
            <a:avLst/>
          </a:prstGeom>
          <a:noFill/>
          <a:ln w="1905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154680" y="184131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A67"/>
                </a:solidFill>
              </a:rPr>
              <a:t>Smoke500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90088" y="2103119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first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comparison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02352" y="1508760"/>
            <a:ext cx="219456" cy="219456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5321808" y="1618488"/>
            <a:ext cx="1527048" cy="0"/>
          </a:xfrm>
          <a:prstGeom prst="line">
            <a:avLst/>
          </a:prstGeom>
          <a:noFill/>
          <a:ln w="1905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937760" y="1834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A67"/>
                </a:solidFill>
              </a:rPr>
              <a:t>Smoke1500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2081701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first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leaderboard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85432" y="1508760"/>
            <a:ext cx="219456" cy="219456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7104888" y="1618488"/>
            <a:ext cx="1527048" cy="0"/>
          </a:xfrm>
          <a:prstGeom prst="line">
            <a:avLst/>
          </a:prstGeom>
          <a:noFill/>
          <a:ln w="1905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720840" y="1828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A67"/>
                </a:solidFill>
              </a:rPr>
              <a:t>Smoke3000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9672" y="209589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profile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stability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68512" y="1508760"/>
            <a:ext cx="219456" cy="219456"/>
          </a:xfrm>
          <a:prstGeom prst="ellipse">
            <a:avLst/>
          </a:prstGeom>
          <a:solidFill>
            <a:srgbClr val="2F6FB3"/>
          </a:solidFill>
          <a:ln w="12700">
            <a:solidFill>
              <a:srgbClr val="2F6FB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8887968" y="1618488"/>
            <a:ext cx="1527048" cy="0"/>
          </a:xfrm>
          <a:prstGeom prst="line">
            <a:avLst/>
          </a:prstGeom>
          <a:noFill/>
          <a:ln w="1905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8503920" y="183770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A67"/>
                </a:solidFill>
              </a:rPr>
              <a:t>Smoke6000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0" y="209084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stress test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for finalists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451592" y="1508760"/>
            <a:ext cx="219456" cy="219456"/>
          </a:xfrm>
          <a:prstGeom prst="ellipse">
            <a:avLst/>
          </a:prstGeom>
          <a:solidFill>
            <a:srgbClr val="6FAF6A"/>
          </a:solidFill>
          <a:ln w="12700">
            <a:solidFill>
              <a:srgbClr val="6FAF6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10287000" y="181965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A67"/>
                </a:solidFill>
              </a:rPr>
              <a:t>Full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85832" y="206991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final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verdict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" y="2971800"/>
            <a:ext cx="3749040" cy="3310128"/>
          </a:xfrm>
          <a:prstGeom prst="roundRect">
            <a:avLst>
              <a:gd name="adj" fmla="val 2759"/>
            </a:avLst>
          </a:prstGeom>
          <a:solidFill>
            <a:srgbClr val="EAF3FB"/>
          </a:solidFill>
          <a:ln w="12700">
            <a:solidFill>
              <a:srgbClr val="C8DC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914400" y="3246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What changed between staged and full results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60120" y="3611880"/>
            <a:ext cx="29260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At smaller scales, v3_2_combatfix appeared promising.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Some staged comparisons also suggested a clearer XGB advantage.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final full multi-seed comparison substantially narrowed those gaps.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72000" y="2971800"/>
            <a:ext cx="3291840" cy="3310128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80060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What remained stable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4846320" y="3611880"/>
            <a:ext cx="25603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Replay-aware splitting mattered from the beginning.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RF remained very strong throughout the project.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RF profile no_counter kept outperforming RF full in the larger staged runs.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28432" y="2971799"/>
            <a:ext cx="3611880" cy="3310127"/>
          </a:xfrm>
          <a:prstGeom prst="roundRect">
            <a:avLst>
              <a:gd name="adj" fmla="val 2759"/>
            </a:avLst>
          </a:prstGeom>
          <a:solidFill>
            <a:srgbClr val="F8EFD8"/>
          </a:solidFill>
          <a:ln w="12700">
            <a:solidFill>
              <a:srgbClr val="E4C98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257032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Methodological lesson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8302752" y="3611880"/>
            <a:ext cx="27432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Staged subsets are useful for screening, not for the final story.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project outcome only became trustworthy after the full multi-seed runs.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59" y="155448"/>
            <a:ext cx="95977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RF profile study: why no_counter became the final RF choice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key RF question was whether handcrafted counter features actually help once the evaluation is stable.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72549478"/>
              </p:ext>
            </p:extLst>
          </p:nvPr>
        </p:nvGraphicFramePr>
        <p:xfrm>
          <a:off x="685799" y="1069849"/>
          <a:ext cx="5033513" cy="2404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2809363242"/>
              </p:ext>
            </p:extLst>
          </p:nvPr>
        </p:nvGraphicFramePr>
        <p:xfrm>
          <a:off x="6271404" y="1069849"/>
          <a:ext cx="4884276" cy="23591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731520" y="3749039"/>
            <a:ext cx="5394960" cy="2362307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969264" y="4023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What the profile study shows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036320" y="4517137"/>
            <a:ext cx="43891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On both dataset variants, removing counter features improved or preserved RF performance.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no_counter profile then survived the transition from staged subsets to the final full benchmark.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0" y="3749040"/>
            <a:ext cx="4754880" cy="2362306"/>
          </a:xfrm>
          <a:prstGeom prst="roundRect">
            <a:avLst>
              <a:gd name="adj" fmla="val 3636"/>
            </a:avLst>
          </a:prstGeom>
          <a:solidFill>
            <a:srgbClr val="E5F3E6"/>
          </a:solidFill>
          <a:ln w="12700">
            <a:solidFill>
              <a:srgbClr val="CBE0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6656832" y="40233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Final RF interpretation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711696" y="4439410"/>
            <a:ext cx="3657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Counter features were not required by the strongest RF pipeline.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best final RF model is therefore both stronger and simpler: RF + no_counter.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strongest RF model appears to learn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Feature-importance patterns align the final RF model with economy, scouting, and state stability rather than with counter heuristics.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40080" y="1170432"/>
            <a:ext cx="658368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68680" y="1444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Stable top RF features across seeds</a:t>
            </a:r>
            <a:endParaRPr lang="en-US" sz="2000" dirty="0"/>
          </a:p>
        </p:txBody>
      </p:sp>
      <p:pic>
        <p:nvPicPr>
          <p:cNvPr id="9" name="Image 0" descr="/mnt/data/rf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455" y="1828800"/>
            <a:ext cx="4972050" cy="3977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52360" y="1170432"/>
            <a:ext cx="4069080" cy="5074920"/>
          </a:xfrm>
          <a:prstGeom prst="roundRect">
            <a:avLst>
              <a:gd name="adj" fmla="val 1798"/>
            </a:avLst>
          </a:prstGeom>
          <a:solidFill>
            <a:srgbClr val="F8EFD8"/>
          </a:solidFill>
          <a:ln w="12700">
            <a:solidFill>
              <a:srgbClr val="E4C98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7699248" y="14447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Interpretation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754112" y="1810512"/>
            <a:ext cx="31546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Economy and scouting features repeatedly appear near the top of the RF ranking.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Signals related to composition and 120-second volatility also recur.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This matches the final profile study: the strongest RF relies on broad game-state signals rather than on explicit counter features.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26680" y="4800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3A67"/>
                </a:solidFill>
              </a:rPr>
              <a:t>Takeaway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54112" y="521380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FAF6A"/>
                </a:solidFill>
              </a:rPr>
              <a:t>The strongest RF result is not “more handcrafted knowledge wins”; it is “the right subset of broad signals wins.”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full multi-seed benchmark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Three replay-aware seeds (42, 43, 44) on the two final dataset variants.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48640" y="1078992"/>
            <a:ext cx="164592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85216" y="116128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Dataset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194560" y="1078992"/>
            <a:ext cx="86868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231136" y="116128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Model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154680" y="1078992"/>
            <a:ext cx="118872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191256" y="116128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Profile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89120" y="1078992"/>
            <a:ext cx="178308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425696" y="116128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Accuracy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1078992"/>
            <a:ext cx="178308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300216" y="116128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Balanced Acc.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83880" y="1078992"/>
            <a:ext cx="155448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8220456" y="116128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ROC-AUC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829800" y="1078992"/>
            <a:ext cx="1645920" cy="384048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866376" y="116128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Log loss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1463040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85216" y="154533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v3_1_fixed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2194560" y="1463040"/>
            <a:ext cx="868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2231136" y="154533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RF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3154680" y="1463040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3191256" y="154533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no_counter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4389120" y="1463040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425696" y="154533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0.6133 ± 0.0055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6263640" y="1463040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300216" y="154533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0.6111 ± 0.0051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8183880" y="1463040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8220456" y="154533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0.6605 ± 0.0055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9829800" y="1463040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9866376" y="154533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0.6503 ± 0.0023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548640" y="1883664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585216" y="196596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v3_1_fixed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2194560" y="1883664"/>
            <a:ext cx="868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2231136" y="196596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XGB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3154680" y="1883664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3191256" y="196596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full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4389120" y="1883664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4425696" y="1965960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0.6128 ± 0.0054</a:t>
            </a:r>
            <a:endParaRPr lang="en-US" sz="1320" dirty="0"/>
          </a:p>
        </p:txBody>
      </p:sp>
      <p:sp>
        <p:nvSpPr>
          <p:cNvPr id="43" name="Shape 41"/>
          <p:cNvSpPr/>
          <p:nvPr/>
        </p:nvSpPr>
        <p:spPr>
          <a:xfrm>
            <a:off x="6263640" y="1883664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6300216" y="1965960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0.6093 ± 0.0049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8183880" y="1883664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8220456" y="196596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0.6601 ± 0.0048</a:t>
            </a:r>
            <a:endParaRPr lang="en-US" sz="1320" dirty="0"/>
          </a:p>
        </p:txBody>
      </p:sp>
      <p:sp>
        <p:nvSpPr>
          <p:cNvPr id="47" name="Shape 45"/>
          <p:cNvSpPr/>
          <p:nvPr/>
        </p:nvSpPr>
        <p:spPr>
          <a:xfrm>
            <a:off x="9829800" y="1883664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9866376" y="196596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0.6484 ± 0.0025</a:t>
            </a:r>
            <a:endParaRPr lang="en-US" sz="1320" dirty="0"/>
          </a:p>
        </p:txBody>
      </p:sp>
      <p:sp>
        <p:nvSpPr>
          <p:cNvPr id="49" name="Shape 47"/>
          <p:cNvSpPr/>
          <p:nvPr/>
        </p:nvSpPr>
        <p:spPr>
          <a:xfrm>
            <a:off x="548640" y="2304288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585216" y="238658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v3_2_combatfix</a:t>
            </a:r>
            <a:endParaRPr lang="en-US" sz="1320" dirty="0"/>
          </a:p>
        </p:txBody>
      </p:sp>
      <p:sp>
        <p:nvSpPr>
          <p:cNvPr id="51" name="Shape 49"/>
          <p:cNvSpPr/>
          <p:nvPr/>
        </p:nvSpPr>
        <p:spPr>
          <a:xfrm>
            <a:off x="2194560" y="2304288"/>
            <a:ext cx="868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2231136" y="2386584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RF</a:t>
            </a:r>
            <a:endParaRPr lang="en-US" sz="1320" dirty="0"/>
          </a:p>
        </p:txBody>
      </p:sp>
      <p:sp>
        <p:nvSpPr>
          <p:cNvPr id="53" name="Shape 51"/>
          <p:cNvSpPr/>
          <p:nvPr/>
        </p:nvSpPr>
        <p:spPr>
          <a:xfrm>
            <a:off x="3154680" y="2304288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3191256" y="238658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no_counter</a:t>
            </a:r>
            <a:endParaRPr lang="en-US" sz="1320" dirty="0"/>
          </a:p>
        </p:txBody>
      </p:sp>
      <p:sp>
        <p:nvSpPr>
          <p:cNvPr id="55" name="Shape 53"/>
          <p:cNvSpPr/>
          <p:nvPr/>
        </p:nvSpPr>
        <p:spPr>
          <a:xfrm>
            <a:off x="4389120" y="2304288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4425696" y="2386584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0.6128 ± 0.0052</a:t>
            </a:r>
            <a:endParaRPr lang="en-US" sz="1320" dirty="0"/>
          </a:p>
        </p:txBody>
      </p:sp>
      <p:sp>
        <p:nvSpPr>
          <p:cNvPr id="57" name="Shape 55"/>
          <p:cNvSpPr/>
          <p:nvPr/>
        </p:nvSpPr>
        <p:spPr>
          <a:xfrm>
            <a:off x="6263640" y="2304288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6300216" y="2386584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0.6107 ± 0.0048</a:t>
            </a:r>
            <a:endParaRPr lang="en-US" sz="1320" dirty="0"/>
          </a:p>
        </p:txBody>
      </p:sp>
      <p:sp>
        <p:nvSpPr>
          <p:cNvPr id="59" name="Shape 57"/>
          <p:cNvSpPr/>
          <p:nvPr/>
        </p:nvSpPr>
        <p:spPr>
          <a:xfrm>
            <a:off x="8183880" y="2304288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8220456" y="23865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0.6603 ± 0.0057</a:t>
            </a:r>
            <a:endParaRPr lang="en-US" sz="1320" dirty="0"/>
          </a:p>
        </p:txBody>
      </p:sp>
      <p:sp>
        <p:nvSpPr>
          <p:cNvPr id="61" name="Shape 59"/>
          <p:cNvSpPr/>
          <p:nvPr/>
        </p:nvSpPr>
        <p:spPr>
          <a:xfrm>
            <a:off x="9829800" y="2304288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9866376" y="238658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0.6504 ± 0.0024</a:t>
            </a:r>
            <a:endParaRPr lang="en-US" sz="1320" dirty="0"/>
          </a:p>
        </p:txBody>
      </p:sp>
      <p:sp>
        <p:nvSpPr>
          <p:cNvPr id="63" name="Shape 61"/>
          <p:cNvSpPr/>
          <p:nvPr/>
        </p:nvSpPr>
        <p:spPr>
          <a:xfrm>
            <a:off x="548640" y="2724912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585216" y="280720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v3_2_combatfix</a:t>
            </a:r>
            <a:endParaRPr lang="en-US" sz="1320" dirty="0"/>
          </a:p>
        </p:txBody>
      </p:sp>
      <p:sp>
        <p:nvSpPr>
          <p:cNvPr id="65" name="Shape 63"/>
          <p:cNvSpPr/>
          <p:nvPr/>
        </p:nvSpPr>
        <p:spPr>
          <a:xfrm>
            <a:off x="2194560" y="2724912"/>
            <a:ext cx="868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2231136" y="280720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XGB</a:t>
            </a:r>
            <a:endParaRPr lang="en-US" sz="1320" dirty="0"/>
          </a:p>
        </p:txBody>
      </p:sp>
      <p:sp>
        <p:nvSpPr>
          <p:cNvPr id="67" name="Shape 65"/>
          <p:cNvSpPr/>
          <p:nvPr/>
        </p:nvSpPr>
        <p:spPr>
          <a:xfrm>
            <a:off x="3154680" y="2724912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3191256" y="280720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full</a:t>
            </a:r>
            <a:endParaRPr lang="en-US" sz="1320" dirty="0"/>
          </a:p>
        </p:txBody>
      </p:sp>
      <p:sp>
        <p:nvSpPr>
          <p:cNvPr id="69" name="Shape 67"/>
          <p:cNvSpPr/>
          <p:nvPr/>
        </p:nvSpPr>
        <p:spPr>
          <a:xfrm>
            <a:off x="4389120" y="2724912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68"/>
          <p:cNvSpPr/>
          <p:nvPr/>
        </p:nvSpPr>
        <p:spPr>
          <a:xfrm>
            <a:off x="4425696" y="280720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0.6128 ± 0.0069</a:t>
            </a:r>
            <a:endParaRPr lang="en-US" sz="1320" dirty="0"/>
          </a:p>
        </p:txBody>
      </p:sp>
      <p:sp>
        <p:nvSpPr>
          <p:cNvPr id="71" name="Shape 69"/>
          <p:cNvSpPr/>
          <p:nvPr/>
        </p:nvSpPr>
        <p:spPr>
          <a:xfrm>
            <a:off x="6263640" y="2724912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Text 70"/>
          <p:cNvSpPr/>
          <p:nvPr/>
        </p:nvSpPr>
        <p:spPr>
          <a:xfrm>
            <a:off x="6300216" y="280720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0.6093 ± 0.0062</a:t>
            </a:r>
            <a:endParaRPr lang="en-US" sz="1320" dirty="0"/>
          </a:p>
        </p:txBody>
      </p:sp>
      <p:sp>
        <p:nvSpPr>
          <p:cNvPr id="73" name="Shape 71"/>
          <p:cNvSpPr/>
          <p:nvPr/>
        </p:nvSpPr>
        <p:spPr>
          <a:xfrm>
            <a:off x="8183880" y="2724912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Text 72"/>
          <p:cNvSpPr/>
          <p:nvPr/>
        </p:nvSpPr>
        <p:spPr>
          <a:xfrm>
            <a:off x="8220456" y="28072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0.6597 ± 0.0059</a:t>
            </a:r>
            <a:endParaRPr lang="en-US" sz="1320" dirty="0"/>
          </a:p>
        </p:txBody>
      </p:sp>
      <p:sp>
        <p:nvSpPr>
          <p:cNvPr id="75" name="Shape 73"/>
          <p:cNvSpPr/>
          <p:nvPr/>
        </p:nvSpPr>
        <p:spPr>
          <a:xfrm>
            <a:off x="9829800" y="2724912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6" name="Text 74"/>
          <p:cNvSpPr/>
          <p:nvPr/>
        </p:nvSpPr>
        <p:spPr>
          <a:xfrm>
            <a:off x="9866376" y="280720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F2937"/>
                </a:solidFill>
              </a:rPr>
              <a:t>0.6486 ± 0.0030</a:t>
            </a:r>
            <a:endParaRPr lang="en-US" sz="1320" dirty="0"/>
          </a:p>
        </p:txBody>
      </p:sp>
      <p:sp>
        <p:nvSpPr>
          <p:cNvPr id="77" name="Shape 75"/>
          <p:cNvSpPr/>
          <p:nvPr/>
        </p:nvSpPr>
        <p:spPr>
          <a:xfrm>
            <a:off x="713232" y="3977639"/>
            <a:ext cx="5303520" cy="2039107"/>
          </a:xfrm>
          <a:prstGeom prst="roundRect">
            <a:avLst>
              <a:gd name="adj" fmla="val 4444"/>
            </a:avLst>
          </a:prstGeom>
          <a:solidFill>
            <a:srgbClr val="E5F3E6"/>
          </a:solidFill>
          <a:ln w="12700">
            <a:solidFill>
              <a:srgbClr val="CBE0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8" name="Text 76"/>
          <p:cNvSpPr/>
          <p:nvPr/>
        </p:nvSpPr>
        <p:spPr>
          <a:xfrm>
            <a:off x="960120" y="42062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What is clearly stable</a:t>
            </a:r>
            <a:endParaRPr lang="en-US" sz="1900" dirty="0"/>
          </a:p>
        </p:txBody>
      </p:sp>
      <p:sp>
        <p:nvSpPr>
          <p:cNvPr id="79" name="Text 77"/>
          <p:cNvSpPr/>
          <p:nvPr/>
        </p:nvSpPr>
        <p:spPr>
          <a:xfrm>
            <a:off x="1005840" y="4572000"/>
            <a:ext cx="411480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RF and XGB finish extremely close on both datasets.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v3_1_fixed is at least as strong as v3_2_combatfix in the final regime.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236208" y="3977639"/>
            <a:ext cx="5239512" cy="2039105"/>
          </a:xfrm>
          <a:prstGeom prst="roundRect">
            <a:avLst>
              <a:gd name="adj" fmla="val 4444"/>
            </a:avLst>
          </a:prstGeom>
          <a:solidFill>
            <a:srgbClr val="E9E1F7"/>
          </a:solidFill>
          <a:ln w="12700">
            <a:solidFill>
              <a:srgbClr val="D5C9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1" name="Text 79"/>
          <p:cNvSpPr/>
          <p:nvPr/>
        </p:nvSpPr>
        <p:spPr>
          <a:xfrm>
            <a:off x="6473952" y="4206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What this means for the story</a:t>
            </a:r>
            <a:endParaRPr lang="en-US" sz="1900" dirty="0"/>
          </a:p>
        </p:txBody>
      </p:sp>
      <p:sp>
        <p:nvSpPr>
          <p:cNvPr id="82" name="Text 80"/>
          <p:cNvSpPr/>
          <p:nvPr/>
        </p:nvSpPr>
        <p:spPr>
          <a:xfrm>
            <a:off x="6537960" y="4572000"/>
            <a:ext cx="40690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final benchmark is more nuanced than the earlier staged experiments.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There is no dominant winner: the project ends with two co-finalist tabular models.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9829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Classification-oriented comparison: RF and XGB are nearly tied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differences are real but very small, which is why the full multi-seed protocol matters.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801201434"/>
              </p:ext>
            </p:extLst>
          </p:nvPr>
        </p:nvGraphicFramePr>
        <p:xfrm>
          <a:off x="731520" y="1033272"/>
          <a:ext cx="5303520" cy="2459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2686824257"/>
              </p:ext>
            </p:extLst>
          </p:nvPr>
        </p:nvGraphicFramePr>
        <p:xfrm>
          <a:off x="6172200" y="1033271"/>
          <a:ext cx="5303520" cy="2459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2"/>
          <p:cNvGraphicFramePr/>
          <p:nvPr>
            <p:extLst>
              <p:ext uri="{D42A27DB-BD31-4B8C-83A1-F6EECF244321}">
                <p14:modId xmlns:p14="http://schemas.microsoft.com/office/powerpoint/2010/main" val="4275860065"/>
              </p:ext>
            </p:extLst>
          </p:nvPr>
        </p:nvGraphicFramePr>
        <p:xfrm>
          <a:off x="3429000" y="3493008"/>
          <a:ext cx="5303520" cy="2459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86868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F2937"/>
                </a:solidFill>
              </a:rPr>
              <a:t>Interpretation: RF holds a slight edge on the classification metrics, but the margin is small enough that the project should treat RF and XGB as co-finalists rather than a clear first and second place.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Probability quality and dataset versioning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full-scale results change the interpretation that emerged during smaller staged runs.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539086865"/>
              </p:ext>
            </p:extLst>
          </p:nvPr>
        </p:nvGraphicFramePr>
        <p:xfrm>
          <a:off x="731520" y="969264"/>
          <a:ext cx="5212080" cy="2724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298448"/>
            <a:ext cx="521208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510528" y="15727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Dataset-version conclusion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565392" y="1965960"/>
            <a:ext cx="39319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Earlier staged experiments suggested v3_2_combatfix might be stronger.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The full multi-seed benchmark does not confirm a clear advantage for v3_2_combatfix.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At final scale, v3_1_fixed is at least as strong and in several comparisons slightly better.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3840480"/>
            <a:ext cx="10972800" cy="2011680"/>
          </a:xfrm>
          <a:prstGeom prst="roundRect">
            <a:avLst>
              <a:gd name="adj" fmla="val 3636"/>
            </a:avLst>
          </a:prstGeom>
          <a:solidFill>
            <a:srgbClr val="F8EFD8"/>
          </a:solidFill>
          <a:ln w="12700">
            <a:solidFill>
              <a:srgbClr val="E4C98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960120" y="40965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Why this matters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05840" y="4462272"/>
            <a:ext cx="98755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project does not simply report the most optimistic intermediate result.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It waits for the full benchmark and then updates the story when the final evidence says the staged narrative was too strong.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This is one of the main methodological gains of the project: conclusions are tied to the highest-quality evidence, not to the earliest promising result.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challenger: serious, competitive, but not winning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deep model was evaluated on the same full-data protocol rather than as a toy add-on.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85800" y="1234439"/>
            <a:ext cx="3474720" cy="2429737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32688" y="1490472"/>
            <a:ext cx="1776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3A67"/>
                </a:solidFill>
              </a:rPr>
              <a:t>Deep protocol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7552" y="1856232"/>
            <a:ext cx="25603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Full v3_1_fixed only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Replay-aware seeds 42/43/44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Candidate selection on validation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Test used once after model selection</a:t>
            </a:r>
            <a:endParaRPr lang="en-US" sz="16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2001021219"/>
              </p:ext>
            </p:extLst>
          </p:nvPr>
        </p:nvGraphicFramePr>
        <p:xfrm>
          <a:off x="4434840" y="1070366"/>
          <a:ext cx="3520440" cy="2541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2636053752"/>
              </p:ext>
            </p:extLst>
          </p:nvPr>
        </p:nvGraphicFramePr>
        <p:xfrm>
          <a:off x="7955280" y="1070364"/>
          <a:ext cx="3703320" cy="2541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685800" y="3849106"/>
            <a:ext cx="10972800" cy="2011680"/>
          </a:xfrm>
          <a:prstGeom prst="roundRect">
            <a:avLst>
              <a:gd name="adj" fmla="val 3636"/>
            </a:avLst>
          </a:prstGeom>
          <a:solidFill>
            <a:srgbClr val="E9E1F7"/>
          </a:solidFill>
          <a:ln w="12700">
            <a:solidFill>
              <a:srgbClr val="D5C9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932688" y="4096512"/>
            <a:ext cx="17760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Interpretation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987552" y="4572000"/>
            <a:ext cx="97840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deep model is not a failed branch; it reaches the same performance neighborhood as RF and XGB.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However, it remains slightly below both tabular finalists on the final full-data comparison.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Therefore, the right role for the deep result is “credible challenger,” not “final winner.”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Rigorous calibration protocol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Post-hoc calibration was treated as a proper validation-to-test experiment, not as a descriptive afterthought.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68680" y="19202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78408" y="2029968"/>
            <a:ext cx="256032" cy="201168"/>
          </a:xfrm>
          <a:prstGeom prst="rect">
            <a:avLst/>
          </a:prstGeom>
          <a:solidFill>
            <a:srgbClr val="2F6FB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2728" y="220370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Uncalibrated test probabilities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19272" y="2267712"/>
            <a:ext cx="292608" cy="365760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657600" y="19202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8EFD8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767328" y="2029968"/>
            <a:ext cx="256032" cy="201168"/>
          </a:xfrm>
          <a:prstGeom prst="rect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18788" y="220370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Fit calibrator on validation predictions only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08192" y="2267712"/>
            <a:ext cx="292608" cy="365760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446520" y="19202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E5F3E6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556248" y="2029968"/>
            <a:ext cx="256032" cy="201168"/>
          </a:xfrm>
          <a:prstGeom prst="rect">
            <a:avLst/>
          </a:prstGeom>
          <a:solidFill>
            <a:srgbClr val="2F6FB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30568" y="2231135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Apply calibrator to untouched test predictions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97112" y="2267712"/>
            <a:ext cx="292608" cy="365760"/>
          </a:xfrm>
          <a:prstGeom prst="chevron">
            <a:avLst/>
          </a:prstGeom>
          <a:solidFill>
            <a:srgbClr val="D8DEE5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9235440" y="192024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345168" y="2029968"/>
            <a:ext cx="256032" cy="201168"/>
          </a:xfrm>
          <a:prstGeom prst="rect">
            <a:avLst/>
          </a:prstGeom>
          <a:solidFill>
            <a:srgbClr val="2F6FB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19488" y="2244853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Compare uncalibrated vs Platt vs isotonic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4069079"/>
            <a:ext cx="10972800" cy="1938527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060704" y="434340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Why this matters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143000" y="4663440"/>
            <a:ext cx="9784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Using the test set to fit a calibrator would artificially inflate the apparent quality of the probabilities.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protocol used here makes calibration a real held-out evaluation and allows a fair comparison between RF and XGB.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Calibration results: RF improves, XGB is already strong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final probability comparison is one of the clearest distinctions between the two tabular finalists.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947963466"/>
              </p:ext>
            </p:extLst>
          </p:nvPr>
        </p:nvGraphicFramePr>
        <p:xfrm>
          <a:off x="731520" y="1325879"/>
          <a:ext cx="5303520" cy="2368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33290421"/>
              </p:ext>
            </p:extLst>
          </p:nvPr>
        </p:nvGraphicFramePr>
        <p:xfrm>
          <a:off x="6172200" y="1325879"/>
          <a:ext cx="5303520" cy="2368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731520" y="3840480"/>
            <a:ext cx="5303520" cy="2176272"/>
          </a:xfrm>
          <a:prstGeom prst="roundRect">
            <a:avLst>
              <a:gd name="adj" fmla="val 4000"/>
            </a:avLst>
          </a:prstGeom>
          <a:solidFill>
            <a:srgbClr val="E5F3E6"/>
          </a:solidFill>
          <a:ln w="12700">
            <a:solidFill>
              <a:srgbClr val="CBE0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969264" y="4096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RF after calibration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024128" y="4462272"/>
            <a:ext cx="42976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RF benefits clearly from Platt and isotonic calibration.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ECE and MCE improve substantially relative to uncalibrated RF.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72200" y="3840480"/>
            <a:ext cx="5303520" cy="2176272"/>
          </a:xfrm>
          <a:prstGeom prst="roundRect">
            <a:avLst>
              <a:gd name="adj" fmla="val 4000"/>
            </a:avLst>
          </a:prstGeom>
          <a:solidFill>
            <a:srgbClr val="E9E1F7"/>
          </a:solidFill>
          <a:ln w="12700">
            <a:solidFill>
              <a:srgbClr val="D5C9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6419088" y="4096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XGB after calibration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73952" y="4462272"/>
            <a:ext cx="438912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 XGB is already strong in its uncalibrated form.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 Post-hoc calibration does not provide meaningful gains, so uncalibrated XGB remains the best probability-oriented choice.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behavior across match duration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project also checked whether accuracy behaves differently across longer vs shorter games.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54864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32688" y="14447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Overall accuracy vs match duration</a:t>
            </a:r>
            <a:endParaRPr lang="en-US" sz="1900" dirty="0"/>
          </a:p>
        </p:txBody>
      </p:sp>
      <p:pic>
        <p:nvPicPr>
          <p:cNvPr id="9" name="Image 0" descr="/mnt/data/accuracy_vs_du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36876"/>
            <a:ext cx="4983480" cy="29900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55080" y="1188720"/>
            <a:ext cx="521208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6601968" y="14447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3A67"/>
                </a:solidFill>
              </a:rPr>
              <a:t>RF-specific duration curve</a:t>
            </a:r>
            <a:endParaRPr lang="en-US" sz="1900" dirty="0"/>
          </a:p>
        </p:txBody>
      </p:sp>
      <p:pic>
        <p:nvPicPr>
          <p:cNvPr id="12" name="Image 1" descr="/mnt/data/rf_accuracy_vs_du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519172"/>
            <a:ext cx="4709160" cy="28254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3A67"/>
          </a:solidFill>
          <a:ln w="12700">
            <a:solidFill>
              <a:srgbClr val="113A6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57607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project ends with two defensible winners, depending on what the downstream use actually needs.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95560" y="146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5E4F5"/>
                </a:solidFill>
              </a:rPr>
              <a:t>SC2 outcome prediction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841248"/>
            <a:ext cx="1133856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731520" y="1280159"/>
            <a:ext cx="5303520" cy="4005069"/>
          </a:xfrm>
          <a:prstGeom prst="roundRect">
            <a:avLst>
              <a:gd name="adj" fmla="val 1905"/>
            </a:avLst>
          </a:prstGeom>
          <a:solidFill>
            <a:srgbClr val="E5F3E6"/>
          </a:solidFill>
          <a:ln w="12700">
            <a:solidFill>
              <a:srgbClr val="CBE0CC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87552" y="15727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3A67"/>
                </a:solidFill>
              </a:rPr>
              <a:t>Classification-oriented recommendation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87552" y="1993392"/>
            <a:ext cx="49042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FAF6A"/>
                </a:solidFill>
              </a:rPr>
              <a:t>Random Forest + v3_1_fixed + no_counter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51560" y="2606040"/>
            <a:ext cx="429768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Slight edge on accuracy, balanced accuracy, and ROC-AUC</a:t>
            </a: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Simpler final RF profile because counter features are excluded</a:t>
            </a: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Works well if the output is used mainly as a hard winner prediction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280160"/>
            <a:ext cx="5303520" cy="4005068"/>
          </a:xfrm>
          <a:prstGeom prst="roundRect">
            <a:avLst>
              <a:gd name="adj" fmla="val 1905"/>
            </a:avLst>
          </a:prstGeom>
          <a:solidFill>
            <a:srgbClr val="E9E1F7"/>
          </a:solidFill>
          <a:ln w="12700">
            <a:solidFill>
              <a:srgbClr val="D5C9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419088" y="15727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3A67"/>
                </a:solidFill>
              </a:rPr>
              <a:t>Probability-oriented recommendation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19088" y="19933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6FB3"/>
                </a:solidFill>
              </a:rPr>
              <a:t>XGBoost + v3_1_fixed + full features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73952" y="2606040"/>
            <a:ext cx="429768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Best final log loss and strongest uncalibrated probability quality</a:t>
            </a: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Already well calibrated; post-hoc calibration adds little</a:t>
            </a:r>
          </a:p>
          <a:p>
            <a:pPr marL="152400" indent="-152400">
              <a:buSzPct val="100000"/>
              <a:buChar char="•"/>
            </a:pP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Best choice if the output is used as a probability rather than only as a label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486400"/>
            <a:ext cx="10744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914400" y="569671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3A67"/>
                </a:solidFill>
              </a:rPr>
              <a:t>The key result is not a single absolute winner but a clean and interpretable trade-off between a stronger classifier (RF) and a stronger probability model (XGB).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0876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163C67"/>
          </a:solidFill>
          <a:ln w="12700">
            <a:solidFill>
              <a:srgbClr val="365A87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932688" y="1783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the project established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2423160"/>
            <a:ext cx="269748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Replay-aware full multi-seed evaluation is essential for trustworthy conclusions.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v3_1_fixed remains at least as strong as v3_2_combatfix at final scale.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RF + no_counter and XGB + full are the two real finalists.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70832" y="150876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163C67"/>
          </a:solidFill>
          <a:ln w="12700">
            <a:solidFill>
              <a:srgbClr val="365A87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617720" y="1783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changed from the early picture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3440" y="2400300"/>
            <a:ext cx="274320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The staged advantage of v3_2_combatfix did not survive the full benchmark.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The apparent clear XGB lead narrowed into a near tie with RF.</a:t>
            </a:r>
          </a:p>
          <a:p>
            <a:pPr marL="152400" indent="-152400">
              <a:buSzPct val="100000"/>
              <a:buChar char="•"/>
            </a:pP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4F7FB"/>
                </a:solidFill>
              </a:rPr>
              <a:t>Counter features did not survive into the strongest final RF profile.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55864" y="150876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163C67"/>
          </a:solidFill>
          <a:ln w="12700">
            <a:solidFill>
              <a:srgbClr val="365A87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302752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to say in one sentence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44484" y="2829465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BFF"/>
                </a:solidFill>
              </a:rPr>
              <a:t>Use RF if you care most about classification. Use XGB if you care most about calibrated probabilities. The deep model is credible, but not the final winner.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85800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E8F6"/>
                </a:solidFill>
              </a:rPr>
              <a:t>Thank you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4048" y="6537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Final project analysis · slide 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2355</Words>
  <Application>Microsoft Office PowerPoint</Application>
  <PresentationFormat>Widescreen</PresentationFormat>
  <Paragraphs>357</Paragraphs>
  <Slides>18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1" baseType="lpstr">
      <vt:lpstr>Aptos Display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StarCraft II Outcome Prediction — Final Project Results</dc:title>
  <dc:subject>StarCraft II outcome prediction project</dc:subject>
  <dc:creator>OpenAI</dc:creator>
  <cp:lastModifiedBy>Jose Luis Junior Pineda Fritas</cp:lastModifiedBy>
  <cp:revision>8</cp:revision>
  <dcterms:created xsi:type="dcterms:W3CDTF">2026-04-06T10:23:50Z</dcterms:created>
  <dcterms:modified xsi:type="dcterms:W3CDTF">2026-04-08T19:17:11Z</dcterms:modified>
</cp:coreProperties>
</file>